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Jan25</c:v>
                  </c:pt>
                  <c:pt idx="1">
                    <c:v>Feb25</c:v>
                  </c:pt>
                  <c:pt idx="2">
                    <c:v>Mar25</c:v>
                  </c:pt>
                  <c:pt idx="3">
                    <c:v>Apr25</c:v>
                  </c:pt>
                  <c:pt idx="4">
                    <c:v>May25</c:v>
                  </c:pt>
                  <c:pt idx="5">
                    <c:v>Jun25</c:v>
                  </c:pt>
                  <c:pt idx="6">
                    <c:v>Jul25</c:v>
                  </c:pt>
                  <c:pt idx="7">
                    <c:v>Aug25</c:v>
                  </c:pt>
                  <c:pt idx="8">
                    <c:v>Sep25</c:v>
                  </c:pt>
                  <c:pt idx="9">
                    <c:v>Oct25</c:v>
                  </c:pt>
                  <c:pt idx="10">
                    <c:v>Nov25</c:v>
                  </c:pt>
                  <c:pt idx="11">
                    <c:v>Dec25</c:v>
                  </c:pt>
                  <c:pt idx="12">
                    <c:v>Jan26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10.096191</c:v>
                </c:pt>
                <c:pt idx="1">
                  <c:v>11.511181</c:v>
                </c:pt>
                <c:pt idx="2">
                  <c:v>13.0599</c:v>
                </c:pt>
                <c:pt idx="3">
                  <c:v>12.2227</c:v>
                </c:pt>
                <c:pt idx="4">
                  <c:v>10.984689</c:v>
                </c:pt>
                <c:pt idx="5">
                  <c:v>12.912333</c:v>
                </c:pt>
                <c:pt idx="6">
                  <c:v>11.746227</c:v>
                </c:pt>
                <c:pt idx="7">
                  <c:v>9.448471</c:v>
                </c:pt>
                <c:pt idx="8">
                  <c:v>9.179896</c:v>
                </c:pt>
                <c:pt idx="9">
                  <c:v>12.500936</c:v>
                </c:pt>
                <c:pt idx="10">
                  <c:v>12.62762</c:v>
                </c:pt>
                <c:pt idx="11">
                  <c:v>12.299904</c:v>
                </c:pt>
                <c:pt idx="12">
                  <c:v>0.80939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E5FA6"/>
              </a:solidFill>
              <a:effectLst/>
            </c:spPr>
          </c:dPt>
          <c:dPt>
            <c:idx val="2"/>
            <c:bubble3D val="0"/>
            <c:spPr>
              <a:solidFill>
                <a:srgbClr val="7B9BD1"/>
              </a:solidFill>
              <a:effectLst/>
            </c:spPr>
          </c:dPt>
          <c:dPt>
            <c:idx val="3"/>
            <c:bubble3D val="0"/>
            <c:spPr>
              <a:solidFill>
                <a:srgbClr val="AEC6EA"/>
              </a:solidFill>
              <a:effectLst/>
            </c:spPr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50.778582</c:v>
                </c:pt>
                <c:pt idx="1">
                  <c:v>25.031689</c:v>
                </c:pt>
                <c:pt idx="2">
                  <c:v>22.231711</c:v>
                </c:pt>
                <c:pt idx="3">
                  <c:v>21.521561</c:v>
                </c:pt>
                <c:pt idx="4">
                  <c:v>19.835896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Laptop</c:v>
                  </c:pt>
                  <c:pt idx="1">
                    <c:v>Mobile</c:v>
                  </c:pt>
                  <c:pt idx="2">
                    <c:v>Book</c:v>
                  </c:pt>
                  <c:pt idx="3">
                    <c:v>Rice</c:v>
                  </c:pt>
                  <c:pt idx="4">
                    <c:v>Chair</c:v>
                  </c:pt>
                  <c:pt idx="5">
                    <c:v>Shoes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25.443009</c:v>
                </c:pt>
                <c:pt idx="1">
                  <c:v>25.335573</c:v>
                </c:pt>
                <c:pt idx="2">
                  <c:v>25.031689</c:v>
                </c:pt>
                <c:pt idx="3">
                  <c:v>22.231711</c:v>
                </c:pt>
                <c:pt idx="4">
                  <c:v>21.521561</c:v>
                </c:pt>
                <c:pt idx="5">
                  <c:v>19.835896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6B72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Patna</c:v>
                  </c:pt>
                  <c:pt idx="1">
                    <c:v>Kolkata</c:v>
                  </c:pt>
                  <c:pt idx="2">
                    <c:v>Bengaluru</c:v>
                  </c:pt>
                  <c:pt idx="3">
                    <c:v>Mumbai</c:v>
                  </c:pt>
                  <c:pt idx="4">
                    <c:v>Hyderabad</c:v>
                  </c:pt>
                  <c:pt idx="5">
                    <c:v>Delhi</c:v>
                  </c:pt>
                  <c:pt idx="6">
                    <c:v>Pune</c:v>
                  </c:pt>
                  <c:pt idx="7">
                    <c:v>Gaya</c:v>
                  </c:pt>
                  <c:pt idx="8">
                    <c:v>Unknown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19.285967</c:v>
                </c:pt>
                <c:pt idx="1">
                  <c:v>18.88435</c:v>
                </c:pt>
                <c:pt idx="2">
                  <c:v>18.773574</c:v>
                </c:pt>
                <c:pt idx="3">
                  <c:v>18.75705</c:v>
                </c:pt>
                <c:pt idx="4">
                  <c:v>17.166767</c:v>
                </c:pt>
                <c:pt idx="5">
                  <c:v>16.097079</c:v>
                </c:pt>
                <c:pt idx="6">
                  <c:v>14.513176</c:v>
                </c:pt>
                <c:pt idx="7">
                  <c:v>14.380859</c:v>
                </c:pt>
                <c:pt idx="8">
                  <c:v>1.540618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ApexPlanet Sales Performance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863840" y="2011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  |  Period: Jan 2025 - Jan 2026  |  Filters: Region, Category, Date Range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70632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51560"/>
            <a:ext cx="2441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" y="1252728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₹1.39 Cr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2441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across FY period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27832" y="960120"/>
            <a:ext cx="2770632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051560"/>
            <a:ext cx="2441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92424" y="1252728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92424" y="1737360"/>
            <a:ext cx="2441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 unique customers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35624" y="960120"/>
            <a:ext cx="2770632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051560"/>
            <a:ext cx="2441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00216" y="1252728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₹1,39,399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0216" y="1737360"/>
            <a:ext cx="2441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₹1,08,594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43416" y="960120"/>
            <a:ext cx="2770632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8008" y="1051560"/>
            <a:ext cx="2441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08008" y="1252728"/>
            <a:ext cx="2441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08008" y="1737360"/>
            <a:ext cx="24414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 of revenue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1945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(₹ Millions)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20040" y="2487168"/>
          <a:ext cx="63093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681228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Category</a:t>
            </a:r>
            <a:endParaRPr lang="en-US" sz="13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6812280" y="2487168"/>
          <a:ext cx="24688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320040" y="46177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 (₹ Millions)</a:t>
            </a:r>
            <a:endParaRPr lang="en-US" sz="1300" dirty="0"/>
          </a:p>
        </p:txBody>
      </p:sp>
      <p:graphicFrame>
        <p:nvGraphicFramePr>
          <p:cNvPr id="26" name="Chart 2" descr=""/>
          <p:cNvGraphicFramePr/>
          <p:nvPr/>
        </p:nvGraphicFramePr>
        <p:xfrm>
          <a:off x="320040" y="4910328"/>
          <a:ext cx="630936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 22"/>
          <p:cNvSpPr/>
          <p:nvPr/>
        </p:nvSpPr>
        <p:spPr>
          <a:xfrm>
            <a:off x="6812280" y="4617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 (₹ Millions)</a:t>
            </a:r>
            <a:endParaRPr lang="en-US" sz="130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6812280" y="4910328"/>
          <a:ext cx="50292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320040" y="6656832"/>
            <a:ext cx="1152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 only — built in PowerPoint from static EDA output; not connected to a live data source.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KPIs to Track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38160" y="2011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EDA findings from Task 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115488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6885432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&amp; Month-over-Month Growth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swung from +36% to -20% MoM this year with no clear trend — tracking growth rate (not just totals) surfaces volatility early.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 (median, not mean)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Total_Sales is right-skewed (skew ≈ 0.99); the mean is inflated by high-value orders, so median AOV is the more honest 'typical order' metric.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leads in every age group and is the single biggest revenue driver — a category-level view flags demand shifts fastest.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&amp; Orders by City (incl. 'Unknown' count)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is evenly spread, not concentrated — worth watching for shifts; tracking the 'Unknown' city count also monitors data-capture quality at the source.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Age-Group x Category Mix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preference is fairly universal across ages today — monitoring this mix catches any emerging demographic shift early.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 Outlier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~1.9% of orders are statistical outliers (very high value) — tracking this rate flags data entry errors vs. genuine bulk/enterprise orders.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2026-07-17T05:52:10Z</dcterms:created>
  <dcterms:modified xsi:type="dcterms:W3CDTF">2026-07-17T05:52:10Z</dcterms:modified>
</cp:coreProperties>
</file>